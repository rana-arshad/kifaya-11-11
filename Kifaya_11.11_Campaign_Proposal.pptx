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3D3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63D34"/>
                </a:solidFill>
                <a:latin typeface="+mn-lt"/>
              </a:rPr>
              <a:t>Direct campaign expenses by area (PKR)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PKR</c:v>
                </c:pt>
              </c:strCache>
            </c:strRef>
          </c:tx>
          <c:spPr>
            <a:solidFill>
              <a:srgbClr val="0B6E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Digital</c:v>
                  </c:pt>
                  <c:pt idx="1">
                    <c:v>Influencers + PR</c:v>
                  </c:pt>
                  <c:pt idx="2">
                    <c:v>Outdoor</c:v>
                  </c:pt>
                  <c:pt idx="3">
                    <c:v>Pop-ups + health camps</c:v>
                  </c:pt>
                  <c:pt idx="4">
                    <c:v>Retention</c:v>
                  </c:pt>
                  <c:pt idx="5">
                    <c:v>B2B + Trade Day</c:v>
                  </c:pt>
                  <c:pt idx="6">
                    <c:v>Creative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1400000</c:v>
                </c:pt>
                <c:pt idx="1">
                  <c:v>850000</c:v>
                </c:pt>
                <c:pt idx="2">
                  <c:v>800000</c:v>
                </c:pt>
                <c:pt idx="3">
                  <c:v>800000</c:v>
                </c:pt>
                <c:pt idx="4">
                  <c:v>500000</c:v>
                </c:pt>
                <c:pt idx="5">
                  <c:v>400000</c:v>
                </c:pt>
                <c:pt idx="6">
                  <c:v>340000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D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D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KIFAYA PHARMACY SUPERMARKET  |  11.11 MEGA SALE  |  Illustrative academic proposal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KIFAYA PHARMACY SUPERMARKET  |  11.11 MEGA SALE  |  Illustrative academic proposal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1"/>
          <p:cNvSpPr/>
          <p:nvPr/>
        </p:nvSpPr>
        <p:spPr>
          <a:xfrm>
            <a:off x="6766560" y="1234440"/>
            <a:ext cx="5029200" cy="5029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ircle 2"/>
          <p:cNvSpPr/>
          <p:nvPr/>
        </p:nvSpPr>
        <p:spPr>
          <a:xfrm>
            <a:off x="10607040" y="512064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64008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bg2"/>
                </a:solidFill>
              </a:rPr>
              <a:t>KIFAYA PHARMACY SUPERMARKET  |  CAMPAIGN PROPOSAL</a:t>
            </a:r>
            <a:endParaRPr lang="en-US" sz="1400" dirty="0"/>
          </a:p>
        </p:txBody>
      </p:sp>
      <p:sp>
        <p:nvSpPr>
          <p:cNvPr id="5" name="Text 4"/>
          <p:cNvSpPr txBox="1"/>
          <p:nvPr/>
        </p:nvSpPr>
        <p:spPr>
          <a:xfrm>
            <a:off x="640080" y="12801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11.11</a:t>
            </a:r>
            <a:endParaRPr lang="en-US" sz="12000" dirty="0"/>
          </a:p>
        </p:txBody>
      </p:sp>
      <p:sp>
        <p:nvSpPr>
          <p:cNvPr id="6" name="Text 5"/>
          <p:cNvSpPr txBox="1"/>
          <p:nvPr/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Mega Sale</a:t>
            </a:r>
            <a:endParaRPr lang="en-US" sz="5400" dirty="0"/>
          </a:p>
        </p:txBody>
      </p:sp>
      <p:sp>
        <p:nvSpPr>
          <p:cNvPr id="7" name="Text 6"/>
          <p:cNvSpPr txBox="1"/>
          <p:nvPr/>
        </p:nvSpPr>
        <p:spPr>
          <a:xfrm>
            <a:off x="640080" y="4023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Health and savings, under one roof.</a:t>
            </a:r>
            <a:endParaRPr lang="en-US" sz="2200" dirty="0"/>
          </a:p>
        </p:txBody>
      </p:sp>
      <p:sp>
        <p:nvSpPr>
          <p:cNvPr id="8" name="Text 7"/>
          <p:cNvSpPr txBox="1"/>
          <p:nvPr/>
        </p:nvSpPr>
        <p:spPr>
          <a:xfrm>
            <a:off x="640080" y="4937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Wednesday, 11 November 2026  |  Karachi, Pakistan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Campaign period: 16 October - 30 November 2026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Estimated total: PKR 5,853,500 (illustrative)</a:t>
            </a:r>
            <a:endParaRPr lang="en-US" sz="1600" dirty="0"/>
          </a:p>
        </p:txBody>
      </p:sp>
      <p:pic>
        <p:nvPicPr>
          <p:cNvPr id="9" name="Image hero 8" descr="hero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606040"/>
            <a:ext cx="4754880" cy="2696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30-day plan from teaser to repeat shopping</a:t>
            </a:r>
            <a:endParaRPr lang="en-US" sz="3200" dirty="0"/>
          </a:p>
        </p:txBody>
      </p:sp>
      <p:sp>
        <p:nvSpPr>
          <p:cNvPr id="3" name="Text 9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CAMPAIGN OVERVIEW</a:t>
            </a:r>
            <a:endParaRPr lang="en-US" sz="1200" dirty="0"/>
          </a:p>
        </p:txBody>
      </p:sp>
      <p:sp>
        <p:nvSpPr>
          <p:cNvPr id="4" name="Card 10"/>
          <p:cNvSpPr/>
          <p:nvPr/>
        </p:nvSpPr>
        <p:spPr>
          <a:xfrm>
            <a:off x="548640" y="1508760"/>
            <a:ext cx="351129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11"/>
          <p:cNvSpPr txBox="1"/>
          <p:nvPr/>
        </p:nvSpPr>
        <p:spPr>
          <a:xfrm>
            <a:off x="777240" y="16733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Name and slogan</a:t>
            </a:r>
            <a:endParaRPr lang="en-US" sz="1700" dirty="0"/>
          </a:p>
        </p:txBody>
      </p:sp>
      <p:sp>
        <p:nvSpPr>
          <p:cNvPr id="6" name="Text 12"/>
          <p:cNvSpPr txBox="1"/>
          <p:nvPr/>
        </p:nvSpPr>
        <p:spPr>
          <a:xfrm>
            <a:off x="777240" y="2103120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11.11 Mega Sale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Sehat bhi, Bachat bhi.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"Everyday Savings. Everyday Wellness."</a:t>
            </a:r>
            <a:endParaRPr lang="en-US" sz="1400" dirty="0"/>
          </a:p>
        </p:txBody>
      </p:sp>
      <p:sp>
        <p:nvSpPr>
          <p:cNvPr id="7" name="Card 13"/>
          <p:cNvSpPr/>
          <p:nvPr/>
        </p:nvSpPr>
        <p:spPr>
          <a:xfrm>
            <a:off x="4334256" y="1508760"/>
            <a:ext cx="351129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14"/>
          <p:cNvSpPr txBox="1"/>
          <p:nvPr/>
        </p:nvSpPr>
        <p:spPr>
          <a:xfrm>
            <a:off x="4562856" y="16733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Target customers</a:t>
            </a:r>
            <a:endParaRPr lang="en-US" sz="1700" dirty="0"/>
          </a:p>
        </p:txBody>
      </p:sp>
      <p:sp>
        <p:nvSpPr>
          <p:cNvPr id="9" name="Text 15"/>
          <p:cNvSpPr txBox="1"/>
          <p:nvPr/>
        </p:nvSpPr>
        <p:spPr>
          <a:xfrm>
            <a:off x="4562856" y="2103120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Families, parents of young children, elders and caregivers, young professionals, students, offices and clinics.</a:t>
            </a:r>
            <a:endParaRPr lang="en-US" sz="1400" dirty="0"/>
          </a:p>
        </p:txBody>
      </p:sp>
      <p:sp>
        <p:nvSpPr>
          <p:cNvPr id="10" name="Card 16"/>
          <p:cNvSpPr/>
          <p:nvPr/>
        </p:nvSpPr>
        <p:spPr>
          <a:xfrm>
            <a:off x="8119872" y="1508760"/>
            <a:ext cx="351129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17"/>
          <p:cNvSpPr txBox="1"/>
          <p:nvPr/>
        </p:nvSpPr>
        <p:spPr>
          <a:xfrm>
            <a:off x="8348472" y="16733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Objectives</a:t>
            </a:r>
            <a:endParaRPr lang="en-US" sz="1700" dirty="0"/>
          </a:p>
        </p:txBody>
      </p:sp>
      <p:sp>
        <p:nvSpPr>
          <p:cNvPr id="12" name="Text 18"/>
          <p:cNvSpPr txBox="1"/>
          <p:nvPr/>
        </p:nvSpPr>
        <p:spPr>
          <a:xfrm>
            <a:off x="8348472" y="2103120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Grow November visits and basket size, build a trusted health-and-savings image, win bulk orders and grow loyalty members.</a:t>
            </a:r>
            <a:endParaRPr lang="en-US" sz="1400" dirty="0"/>
          </a:p>
        </p:txBody>
      </p:sp>
      <p:sp>
        <p:nvSpPr>
          <p:cNvPr id="13" name="Text 19"/>
          <p:cNvSpPr txBox="1"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Five sale categories</a:t>
            </a:r>
            <a:endParaRPr lang="en-US" sz="1800" dirty="0"/>
          </a:p>
        </p:txBody>
      </p:sp>
      <p:sp>
        <p:nvSpPr>
          <p:cNvPr id="14" name="Card 20"/>
          <p:cNvSpPr/>
          <p:nvPr/>
        </p:nvSpPr>
        <p:spPr>
          <a:xfrm>
            <a:off x="548640" y="4023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BF1D0"/>
          </a:solidFill>
          <a:ln w="12700">
            <a:solidFill>
              <a:srgbClr val="FBF1D0"/>
            </a:solidFill>
            <a:prstDash val="solid"/>
          </a:ln>
        </p:spPr>
      </p:sp>
      <p:sp>
        <p:nvSpPr>
          <p:cNvPr id="15" name="Circle 21"/>
          <p:cNvSpPr/>
          <p:nvPr/>
        </p:nvSpPr>
        <p:spPr>
          <a:xfrm>
            <a:off x="1051560" y="4206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icon0 22" descr="icon0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43400"/>
            <a:ext cx="777240" cy="777240"/>
          </a:xfrm>
          <a:prstGeom prst="rect">
            <a:avLst/>
          </a:prstGeom>
        </p:spPr>
      </p:pic>
      <p:sp>
        <p:nvSpPr>
          <p:cNvPr id="17" name="Text 23"/>
          <p:cNvSpPr txBox="1"/>
          <p:nvPr/>
        </p:nvSpPr>
        <p:spPr>
          <a:xfrm>
            <a:off x="640080" y="5394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Grocery &amp; Staples</a:t>
            </a:r>
            <a:endParaRPr lang="en-US" sz="1500" dirty="0"/>
          </a:p>
        </p:txBody>
      </p:sp>
      <p:sp>
        <p:nvSpPr>
          <p:cNvPr id="18" name="Card 24"/>
          <p:cNvSpPr/>
          <p:nvPr/>
        </p:nvSpPr>
        <p:spPr>
          <a:xfrm>
            <a:off x="2807208" y="4023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DDE9FA"/>
          </a:solidFill>
          <a:ln w="12700">
            <a:solidFill>
              <a:srgbClr val="DDE9FA"/>
            </a:solidFill>
            <a:prstDash val="solid"/>
          </a:ln>
        </p:spPr>
      </p:sp>
      <p:sp>
        <p:nvSpPr>
          <p:cNvPr id="19" name="Circle 25"/>
          <p:cNvSpPr/>
          <p:nvPr/>
        </p:nvSpPr>
        <p:spPr>
          <a:xfrm>
            <a:off x="3310128" y="4206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Image icon1 26" descr="icon1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4343400"/>
            <a:ext cx="777240" cy="777240"/>
          </a:xfrm>
          <a:prstGeom prst="rect">
            <a:avLst/>
          </a:prstGeom>
        </p:spPr>
      </p:pic>
      <p:sp>
        <p:nvSpPr>
          <p:cNvPr id="21" name="Text 27"/>
          <p:cNvSpPr txBox="1"/>
          <p:nvPr/>
        </p:nvSpPr>
        <p:spPr>
          <a:xfrm>
            <a:off x="2898648" y="5394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Personal Care &amp; Beauty</a:t>
            </a:r>
            <a:endParaRPr lang="en-US" sz="1500" dirty="0"/>
          </a:p>
        </p:txBody>
      </p:sp>
      <p:sp>
        <p:nvSpPr>
          <p:cNvPr id="22" name="Card 28"/>
          <p:cNvSpPr/>
          <p:nvPr/>
        </p:nvSpPr>
        <p:spPr>
          <a:xfrm>
            <a:off x="5065776" y="4023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CE3EA"/>
          </a:solidFill>
          <a:ln w="12700">
            <a:solidFill>
              <a:srgbClr val="FCE3EA"/>
            </a:solidFill>
            <a:prstDash val="solid"/>
          </a:ln>
        </p:spPr>
      </p:sp>
      <p:sp>
        <p:nvSpPr>
          <p:cNvPr id="23" name="Circle 29"/>
          <p:cNvSpPr/>
          <p:nvPr/>
        </p:nvSpPr>
        <p:spPr>
          <a:xfrm>
            <a:off x="5568696" y="4206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4" name="Image icon2 30" descr="icon2 illust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4343400"/>
            <a:ext cx="777240" cy="777240"/>
          </a:xfrm>
          <a:prstGeom prst="rect">
            <a:avLst/>
          </a:prstGeom>
        </p:spPr>
      </p:pic>
      <p:sp>
        <p:nvSpPr>
          <p:cNvPr id="25" name="Text 31"/>
          <p:cNvSpPr txBox="1"/>
          <p:nvPr/>
        </p:nvSpPr>
        <p:spPr>
          <a:xfrm>
            <a:off x="5157216" y="5394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Baby &amp; Mother Care</a:t>
            </a:r>
            <a:endParaRPr lang="en-US" sz="1500" dirty="0"/>
          </a:p>
        </p:txBody>
      </p:sp>
      <p:sp>
        <p:nvSpPr>
          <p:cNvPr id="26" name="Card 32"/>
          <p:cNvSpPr/>
          <p:nvPr/>
        </p:nvSpPr>
        <p:spPr>
          <a:xfrm>
            <a:off x="7324344" y="4023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</p:sp>
      <p:sp>
        <p:nvSpPr>
          <p:cNvPr id="27" name="Circle 33"/>
          <p:cNvSpPr/>
          <p:nvPr/>
        </p:nvSpPr>
        <p:spPr>
          <a:xfrm>
            <a:off x="7827264" y="4206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8" name="Image icon3 34" descr="icon3 illust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343400"/>
            <a:ext cx="777240" cy="777240"/>
          </a:xfrm>
          <a:prstGeom prst="rect">
            <a:avLst/>
          </a:prstGeom>
        </p:spPr>
      </p:pic>
      <p:sp>
        <p:nvSpPr>
          <p:cNvPr id="29" name="Text 35"/>
          <p:cNvSpPr txBox="1"/>
          <p:nvPr/>
        </p:nvSpPr>
        <p:spPr>
          <a:xfrm>
            <a:off x="7415784" y="5394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Health &amp; Wellness</a:t>
            </a:r>
            <a:endParaRPr lang="en-US" sz="1500" dirty="0"/>
          </a:p>
        </p:txBody>
      </p:sp>
      <p:sp>
        <p:nvSpPr>
          <p:cNvPr id="30" name="Card 36"/>
          <p:cNvSpPr/>
          <p:nvPr/>
        </p:nvSpPr>
        <p:spPr>
          <a:xfrm>
            <a:off x="9582912" y="4023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31" name="Circle 37"/>
          <p:cNvSpPr/>
          <p:nvPr/>
        </p:nvSpPr>
        <p:spPr>
          <a:xfrm>
            <a:off x="10085832" y="4206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2" name="Image icon4 38" descr="icon4 illustr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4343400"/>
            <a:ext cx="777240" cy="777240"/>
          </a:xfrm>
          <a:prstGeom prst="rect">
            <a:avLst/>
          </a:prstGeom>
        </p:spPr>
      </p:pic>
      <p:sp>
        <p:nvSpPr>
          <p:cNvPr id="33" name="Text 39"/>
          <p:cNvSpPr txBox="1"/>
          <p:nvPr/>
        </p:nvSpPr>
        <p:spPr>
          <a:xfrm>
            <a:off x="9674352" y="5394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Home Care &amp; Snacks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makes a pharmacy campaign different</a:t>
            </a:r>
            <a:endParaRPr lang="en-US" sz="3200" dirty="0"/>
          </a:p>
        </p:txBody>
      </p:sp>
      <p:sp>
        <p:nvSpPr>
          <p:cNvPr id="3" name="Text 4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PHARMACY GUARDRAILS</a:t>
            </a:r>
            <a:endParaRPr lang="en-US" sz="1200" dirty="0"/>
          </a:p>
        </p:txBody>
      </p:sp>
      <p:sp>
        <p:nvSpPr>
          <p:cNvPr id="4" name="Circle 41"/>
          <p:cNvSpPr/>
          <p:nvPr/>
        </p:nvSpPr>
        <p:spPr>
          <a:xfrm>
            <a:off x="640080" y="1600200"/>
            <a:ext cx="4023360" cy="4023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pharmacist 42" descr="pharmacist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291840" cy="2958353"/>
          </a:xfrm>
          <a:prstGeom prst="rect">
            <a:avLst/>
          </a:prstGeom>
        </p:spPr>
      </p:pic>
      <p:sp>
        <p:nvSpPr>
          <p:cNvPr id="6" name="Card 43"/>
          <p:cNvSpPr/>
          <p:nvPr/>
        </p:nvSpPr>
        <p:spPr>
          <a:xfrm>
            <a:off x="5029200" y="1508760"/>
            <a:ext cx="6611112" cy="1051560"/>
          </a:xfrm>
          <a:prstGeom prst="roundRect">
            <a:avLst>
              <a:gd name="adj" fmla="val 10435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7" name="Circle 44"/>
          <p:cNvSpPr/>
          <p:nvPr/>
        </p:nvSpPr>
        <p:spPr>
          <a:xfrm>
            <a:off x="5257800" y="17145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5"/>
          <p:cNvSpPr txBox="1"/>
          <p:nvPr/>
        </p:nvSpPr>
        <p:spPr>
          <a:xfrm>
            <a:off x="5257800" y="1714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46"/>
          <p:cNvSpPr txBox="1"/>
          <p:nvPr/>
        </p:nvSpPr>
        <p:spPr>
          <a:xfrm>
            <a:off x="6080760" y="1618488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Approved offers only</a:t>
            </a:r>
            <a:endParaRPr lang="en-US" sz="1800" dirty="0"/>
          </a:p>
        </p:txBody>
      </p:sp>
      <p:sp>
        <p:nvSpPr>
          <p:cNvPr id="10" name="Text 47"/>
          <p:cNvSpPr txBox="1"/>
          <p:nvPr/>
        </p:nvSpPr>
        <p:spPr>
          <a:xfrm>
            <a:off x="6080760" y="1965960"/>
            <a:ext cx="5330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categories approved by management and the in-charge pharmacist are advertised. Confirm local drug-regulation rules (DRAP / provincial) first.</a:t>
            </a:r>
            <a:endParaRPr lang="en-US" sz="1400" dirty="0"/>
          </a:p>
        </p:txBody>
      </p:sp>
      <p:sp>
        <p:nvSpPr>
          <p:cNvPr id="11" name="Card 48"/>
          <p:cNvSpPr/>
          <p:nvPr/>
        </p:nvSpPr>
        <p:spPr>
          <a:xfrm>
            <a:off x="5029200" y="2697480"/>
            <a:ext cx="6611112" cy="1051560"/>
          </a:xfrm>
          <a:prstGeom prst="roundRect">
            <a:avLst>
              <a:gd name="adj" fmla="val 10435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2" name="Circle 49"/>
          <p:cNvSpPr/>
          <p:nvPr/>
        </p:nvSpPr>
        <p:spPr>
          <a:xfrm>
            <a:off x="5257800" y="29032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50"/>
          <p:cNvSpPr txBox="1"/>
          <p:nvPr/>
        </p:nvSpPr>
        <p:spPr>
          <a:xfrm>
            <a:off x="5257800" y="2903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51"/>
          <p:cNvSpPr txBox="1"/>
          <p:nvPr/>
        </p:nvSpPr>
        <p:spPr>
          <a:xfrm>
            <a:off x="6080760" y="2807208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prescription-medicine ads</a:t>
            </a:r>
            <a:endParaRPr lang="en-US" sz="1800" dirty="0"/>
          </a:p>
        </p:txBody>
      </p:sp>
      <p:sp>
        <p:nvSpPr>
          <p:cNvPr id="15" name="Text 52"/>
          <p:cNvSpPr txBox="1"/>
          <p:nvPr/>
        </p:nvSpPr>
        <p:spPr>
          <a:xfrm>
            <a:off x="6080760" y="3154680"/>
            <a:ext cx="5330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ads never promote prescription medicines, and discounts are not used to push medicine purchases.</a:t>
            </a:r>
            <a:endParaRPr lang="en-US" sz="1400" dirty="0"/>
          </a:p>
        </p:txBody>
      </p:sp>
      <p:sp>
        <p:nvSpPr>
          <p:cNvPr id="16" name="Card 53"/>
          <p:cNvSpPr/>
          <p:nvPr/>
        </p:nvSpPr>
        <p:spPr>
          <a:xfrm>
            <a:off x="5029200" y="3886200"/>
            <a:ext cx="661111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ircle 54"/>
          <p:cNvSpPr/>
          <p:nvPr/>
        </p:nvSpPr>
        <p:spPr>
          <a:xfrm>
            <a:off x="5257800" y="40919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55"/>
          <p:cNvSpPr txBox="1"/>
          <p:nvPr/>
        </p:nvSpPr>
        <p:spPr>
          <a:xfrm>
            <a:off x="5257800" y="40919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56"/>
          <p:cNvSpPr txBox="1"/>
          <p:nvPr/>
        </p:nvSpPr>
        <p:spPr>
          <a:xfrm>
            <a:off x="6080760" y="3995928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health claims</a:t>
            </a:r>
            <a:endParaRPr lang="en-US" sz="1800" dirty="0"/>
          </a:p>
        </p:txBody>
      </p:sp>
      <p:sp>
        <p:nvSpPr>
          <p:cNvPr id="20" name="Text 57"/>
          <p:cNvSpPr txBox="1"/>
          <p:nvPr/>
        </p:nvSpPr>
        <p:spPr>
          <a:xfrm>
            <a:off x="6080760" y="4343400"/>
            <a:ext cx="5330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Posters and creators talk about convenience, savings and care, never cures or results. Health camps are awareness only.</a:t>
            </a:r>
            <a:endParaRPr lang="en-US" sz="1400" dirty="0"/>
          </a:p>
        </p:txBody>
      </p:sp>
      <p:sp>
        <p:nvSpPr>
          <p:cNvPr id="21" name="Card 58"/>
          <p:cNvSpPr/>
          <p:nvPr/>
        </p:nvSpPr>
        <p:spPr>
          <a:xfrm>
            <a:off x="5029200" y="5074920"/>
            <a:ext cx="661111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ircle 59"/>
          <p:cNvSpPr/>
          <p:nvPr/>
        </p:nvSpPr>
        <p:spPr>
          <a:xfrm>
            <a:off x="5257800" y="52806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60"/>
          <p:cNvSpPr txBox="1"/>
          <p:nvPr/>
        </p:nvSpPr>
        <p:spPr>
          <a:xfrm>
            <a:off x="5257800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61"/>
          <p:cNvSpPr txBox="1"/>
          <p:nvPr/>
        </p:nvSpPr>
        <p:spPr>
          <a:xfrm>
            <a:off x="6080760" y="5184648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Ready for pressure</a:t>
            </a:r>
            <a:endParaRPr lang="en-US" sz="1800" dirty="0"/>
          </a:p>
        </p:txBody>
      </p:sp>
      <p:sp>
        <p:nvSpPr>
          <p:cNvPr id="25" name="Text 62"/>
          <p:cNvSpPr txBox="1"/>
          <p:nvPr/>
        </p:nvSpPr>
        <p:spPr>
          <a:xfrm>
            <a:off x="6080760" y="5532120"/>
            <a:ext cx="5330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Calm reply notes for stock-outs and long queues, plus a staffed WhatsApp line from 11 to 15 November.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recognisable look across every touchpoint</a:t>
            </a:r>
            <a:endParaRPr lang="en-US" sz="3200" dirty="0"/>
          </a:p>
        </p:txBody>
      </p:sp>
      <p:sp>
        <p:nvSpPr>
          <p:cNvPr id="3" name="Text 63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CREATIVE SYSTEM</a:t>
            </a:r>
            <a:endParaRPr lang="en-US" sz="1200" dirty="0"/>
          </a:p>
        </p:txBody>
      </p:sp>
      <p:sp>
        <p:nvSpPr>
          <p:cNvPr id="4" name="Card 64"/>
          <p:cNvSpPr/>
          <p:nvPr/>
        </p:nvSpPr>
        <p:spPr>
          <a:xfrm>
            <a:off x="548640" y="150876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65"/>
          <p:cNvSpPr txBox="1"/>
          <p:nvPr/>
        </p:nvSpPr>
        <p:spPr>
          <a:xfrm>
            <a:off x="777240" y="16733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 social posters + captions</a:t>
            </a:r>
            <a:endParaRPr lang="en-US" sz="1700" dirty="0"/>
          </a:p>
        </p:txBody>
      </p:sp>
      <p:sp>
        <p:nvSpPr>
          <p:cNvPr id="6" name="Text 66"/>
          <p:cNvSpPr txBox="1"/>
          <p:nvPr/>
        </p:nvSpPr>
        <p:spPr>
          <a:xfrm>
            <a:off x="77724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x PKR 25,000 = PKR 125,000</a:t>
            </a:r>
            <a:endParaRPr lang="en-US" sz="1600" dirty="0"/>
          </a:p>
        </p:txBody>
      </p:sp>
      <p:sp>
        <p:nvSpPr>
          <p:cNvPr id="7" name="Card 67"/>
          <p:cNvSpPr/>
          <p:nvPr/>
        </p:nvSpPr>
        <p:spPr>
          <a:xfrm>
            <a:off x="4160520" y="150876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8"/>
          <p:cNvSpPr txBox="1"/>
          <p:nvPr/>
        </p:nvSpPr>
        <p:spPr>
          <a:xfrm>
            <a:off x="4389120" y="16733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Website / app banner</a:t>
            </a:r>
            <a:endParaRPr lang="en-US" sz="1700" dirty="0"/>
          </a:p>
        </p:txBody>
      </p:sp>
      <p:sp>
        <p:nvSpPr>
          <p:cNvPr id="9" name="Text 69"/>
          <p:cNvSpPr txBox="1"/>
          <p:nvPr/>
        </p:nvSpPr>
        <p:spPr>
          <a:xfrm>
            <a:off x="438912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PKR 40,000</a:t>
            </a:r>
            <a:endParaRPr lang="en-US" sz="1600" dirty="0"/>
          </a:p>
        </p:txBody>
      </p:sp>
      <p:sp>
        <p:nvSpPr>
          <p:cNvPr id="10" name="Card 70"/>
          <p:cNvSpPr/>
          <p:nvPr/>
        </p:nvSpPr>
        <p:spPr>
          <a:xfrm>
            <a:off x="548640" y="333756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1"/>
          <p:cNvSpPr txBox="1"/>
          <p:nvPr/>
        </p:nvSpPr>
        <p:spPr>
          <a:xfrm>
            <a:off x="77724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 email drafts</a:t>
            </a:r>
            <a:endParaRPr lang="en-US" sz="1700" dirty="0"/>
          </a:p>
        </p:txBody>
      </p:sp>
      <p:sp>
        <p:nvSpPr>
          <p:cNvPr id="12" name="Text 72"/>
          <p:cNvSpPr txBox="1"/>
          <p:nvPr/>
        </p:nvSpPr>
        <p:spPr>
          <a:xfrm>
            <a:off x="777240" y="3931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x PKR 15,000 = PKR 75,000</a:t>
            </a:r>
            <a:endParaRPr lang="en-US" sz="1600" dirty="0"/>
          </a:p>
        </p:txBody>
      </p:sp>
      <p:sp>
        <p:nvSpPr>
          <p:cNvPr id="13" name="Card 73"/>
          <p:cNvSpPr/>
          <p:nvPr/>
        </p:nvSpPr>
        <p:spPr>
          <a:xfrm>
            <a:off x="4160520" y="333756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74"/>
          <p:cNvSpPr txBox="1"/>
          <p:nvPr/>
        </p:nvSpPr>
        <p:spPr>
          <a:xfrm>
            <a:off x="438912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Branding and creative direction</a:t>
            </a:r>
            <a:endParaRPr lang="en-US" sz="1700" dirty="0"/>
          </a:p>
        </p:txBody>
      </p:sp>
      <p:sp>
        <p:nvSpPr>
          <p:cNvPr id="15" name="Text 75"/>
          <p:cNvSpPr txBox="1"/>
          <p:nvPr/>
        </p:nvSpPr>
        <p:spPr>
          <a:xfrm>
            <a:off x="4389120" y="3931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PKR 100,000</a:t>
            </a:r>
            <a:endParaRPr lang="en-US" sz="1600" dirty="0"/>
          </a:p>
        </p:txBody>
      </p:sp>
      <p:pic>
        <p:nvPicPr>
          <p:cNvPr id="16" name="Image envelope 76" descr="envelop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783080"/>
            <a:ext cx="3474720" cy="2952376"/>
          </a:xfrm>
          <a:prstGeom prst="rect">
            <a:avLst/>
          </a:prstGeom>
        </p:spPr>
      </p:pic>
      <p:sp>
        <p:nvSpPr>
          <p:cNvPr id="17" name="Text 77"/>
          <p:cNvSpPr txBox="1"/>
          <p:nvPr/>
        </p:nvSpPr>
        <p:spPr>
          <a:xfrm>
            <a:off x="8138160" y="4937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Urdu and English together, large logo, bright green-and-orange palette, one call to action.</a:t>
            </a:r>
            <a:endParaRPr lang="en-US" sz="1400" dirty="0"/>
          </a:p>
        </p:txBody>
      </p:sp>
      <p:sp>
        <p:nvSpPr>
          <p:cNvPr id="18" name="Text 78"/>
          <p:cNvSpPr txBox="1"/>
          <p:nvPr/>
        </p:nvSpPr>
        <p:spPr>
          <a:xfrm>
            <a:off x="548640" y="5349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Creative subtotal: PKR 340,000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Measurable reach for Karachi shoppers</a:t>
            </a:r>
            <a:endParaRPr lang="en-US" sz="3200" dirty="0"/>
          </a:p>
        </p:txBody>
      </p:sp>
      <p:sp>
        <p:nvSpPr>
          <p:cNvPr id="3" name="Text 79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DIGITAL MEDIA</a:t>
            </a:r>
            <a:endParaRPr lang="en-US" sz="1200" dirty="0"/>
          </a:p>
        </p:txBody>
      </p:sp>
      <p:pic>
        <p:nvPicPr>
          <p:cNvPr id="4" name="Image phone 80" descr="phon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108960" cy="3027680"/>
          </a:xfrm>
          <a:prstGeom prst="rect">
            <a:avLst/>
          </a:prstGeom>
        </p:spPr>
      </p:pic>
      <p:sp>
        <p:nvSpPr>
          <p:cNvPr id="5" name="Card 81"/>
          <p:cNvSpPr/>
          <p:nvPr/>
        </p:nvSpPr>
        <p:spPr>
          <a:xfrm>
            <a:off x="4480560" y="1508760"/>
            <a:ext cx="7159752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ircle 82"/>
          <p:cNvSpPr/>
          <p:nvPr/>
        </p:nvSpPr>
        <p:spPr>
          <a:xfrm>
            <a:off x="4709160" y="165506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83"/>
          <p:cNvSpPr txBox="1"/>
          <p:nvPr/>
        </p:nvSpPr>
        <p:spPr>
          <a:xfrm>
            <a:off x="4709160" y="1655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84"/>
          <p:cNvSpPr txBox="1"/>
          <p:nvPr/>
        </p:nvSpPr>
        <p:spPr>
          <a:xfrm>
            <a:off x="5532120" y="1618488"/>
            <a:ext cx="5879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Reach</a:t>
            </a:r>
            <a:endParaRPr lang="en-US" sz="1800" dirty="0"/>
          </a:p>
        </p:txBody>
      </p:sp>
      <p:sp>
        <p:nvSpPr>
          <p:cNvPr id="9" name="Text 85"/>
          <p:cNvSpPr txBox="1"/>
          <p:nvPr/>
        </p:nvSpPr>
        <p:spPr>
          <a:xfrm>
            <a:off x="5532120" y="1965960"/>
            <a:ext cx="5879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Paid ads on Facebook, Instagram and TikTok around each branch.</a:t>
            </a:r>
            <a:endParaRPr lang="en-US" sz="1400" dirty="0"/>
          </a:p>
        </p:txBody>
      </p:sp>
      <p:sp>
        <p:nvSpPr>
          <p:cNvPr id="10" name="Card 86"/>
          <p:cNvSpPr/>
          <p:nvPr/>
        </p:nvSpPr>
        <p:spPr>
          <a:xfrm>
            <a:off x="4480560" y="2560320"/>
            <a:ext cx="7159752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le 87"/>
          <p:cNvSpPr/>
          <p:nvPr/>
        </p:nvSpPr>
        <p:spPr>
          <a:xfrm>
            <a:off x="4709160" y="270662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8"/>
          <p:cNvSpPr txBox="1"/>
          <p:nvPr/>
        </p:nvSpPr>
        <p:spPr>
          <a:xfrm>
            <a:off x="4709160" y="2706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89"/>
          <p:cNvSpPr txBox="1"/>
          <p:nvPr/>
        </p:nvSpPr>
        <p:spPr>
          <a:xfrm>
            <a:off x="5532120" y="2670048"/>
            <a:ext cx="5879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Capture</a:t>
            </a:r>
            <a:endParaRPr lang="en-US" sz="1800" dirty="0"/>
          </a:p>
        </p:txBody>
      </p:sp>
      <p:sp>
        <p:nvSpPr>
          <p:cNvPr id="14" name="Text 90"/>
          <p:cNvSpPr txBox="1"/>
          <p:nvPr/>
        </p:nvSpPr>
        <p:spPr>
          <a:xfrm>
            <a:off x="5532120" y="3017520"/>
            <a:ext cx="5879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Search, Maps and YouTube ads, plus an 11.11 landing page or WhatsApp order link.</a:t>
            </a:r>
            <a:endParaRPr lang="en-US" sz="1400" dirty="0"/>
          </a:p>
        </p:txBody>
      </p:sp>
      <p:sp>
        <p:nvSpPr>
          <p:cNvPr id="15" name="Card 91"/>
          <p:cNvSpPr/>
          <p:nvPr/>
        </p:nvSpPr>
        <p:spPr>
          <a:xfrm>
            <a:off x="4480560" y="3611880"/>
            <a:ext cx="7159752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le 92"/>
          <p:cNvSpPr/>
          <p:nvPr/>
        </p:nvSpPr>
        <p:spPr>
          <a:xfrm>
            <a:off x="4709160" y="37581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93"/>
          <p:cNvSpPr txBox="1"/>
          <p:nvPr/>
        </p:nvSpPr>
        <p:spPr>
          <a:xfrm>
            <a:off x="470916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94"/>
          <p:cNvSpPr txBox="1"/>
          <p:nvPr/>
        </p:nvSpPr>
        <p:spPr>
          <a:xfrm>
            <a:off x="5532120" y="3721608"/>
            <a:ext cx="5879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Respond</a:t>
            </a:r>
            <a:endParaRPr lang="en-US" sz="1800" dirty="0"/>
          </a:p>
        </p:txBody>
      </p:sp>
      <p:sp>
        <p:nvSpPr>
          <p:cNvPr id="19" name="Text 95"/>
          <p:cNvSpPr txBox="1"/>
          <p:nvPr/>
        </p:nvSpPr>
        <p:spPr>
          <a:xfrm>
            <a:off x="5532120" y="4069080"/>
            <a:ext cx="5879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Reels, countdowns, WhatsApp broadcasts and SMS only to customers who agreed to receive them.</a:t>
            </a:r>
            <a:endParaRPr lang="en-US" sz="1400" dirty="0"/>
          </a:p>
        </p:txBody>
      </p:sp>
      <p:sp>
        <p:nvSpPr>
          <p:cNvPr id="20" name="Card 96"/>
          <p:cNvSpPr/>
          <p:nvPr/>
        </p:nvSpPr>
        <p:spPr>
          <a:xfrm>
            <a:off x="4480560" y="480060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97"/>
          <p:cNvSpPr txBox="1"/>
          <p:nvPr/>
        </p:nvSpPr>
        <p:spPr>
          <a:xfrm>
            <a:off x="457200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1,000,000</a:t>
            </a:r>
            <a:endParaRPr lang="en-US" sz="2200" dirty="0"/>
          </a:p>
        </p:txBody>
      </p:sp>
      <p:sp>
        <p:nvSpPr>
          <p:cNvPr id="22" name="Text 98"/>
          <p:cNvSpPr txBox="1"/>
          <p:nvPr/>
        </p:nvSpPr>
        <p:spPr>
          <a:xfrm>
            <a:off x="4572000" y="5440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PKR paid media</a:t>
            </a:r>
            <a:endParaRPr lang="en-US" sz="1200" dirty="0"/>
          </a:p>
        </p:txBody>
      </p:sp>
      <p:sp>
        <p:nvSpPr>
          <p:cNvPr id="23" name="Card 99"/>
          <p:cNvSpPr/>
          <p:nvPr/>
        </p:nvSpPr>
        <p:spPr>
          <a:xfrm>
            <a:off x="6318504" y="480060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00"/>
          <p:cNvSpPr txBox="1"/>
          <p:nvPr/>
        </p:nvSpPr>
        <p:spPr>
          <a:xfrm>
            <a:off x="6409944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250,000</a:t>
            </a:r>
            <a:endParaRPr lang="en-US" sz="2200" dirty="0"/>
          </a:p>
        </p:txBody>
      </p:sp>
      <p:sp>
        <p:nvSpPr>
          <p:cNvPr id="25" name="Text 101"/>
          <p:cNvSpPr txBox="1"/>
          <p:nvPr/>
        </p:nvSpPr>
        <p:spPr>
          <a:xfrm>
            <a:off x="6409944" y="5440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PKR setup and management</a:t>
            </a:r>
            <a:endParaRPr lang="en-US" sz="1200" dirty="0"/>
          </a:p>
        </p:txBody>
      </p:sp>
      <p:sp>
        <p:nvSpPr>
          <p:cNvPr id="26" name="Card 102"/>
          <p:cNvSpPr/>
          <p:nvPr/>
        </p:nvSpPr>
        <p:spPr>
          <a:xfrm>
            <a:off x="8156448" y="480060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103"/>
          <p:cNvSpPr txBox="1"/>
          <p:nvPr/>
        </p:nvSpPr>
        <p:spPr>
          <a:xfrm>
            <a:off x="8247888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150,000</a:t>
            </a:r>
            <a:endParaRPr lang="en-US" sz="2200" dirty="0"/>
          </a:p>
        </p:txBody>
      </p:sp>
      <p:sp>
        <p:nvSpPr>
          <p:cNvPr id="28" name="Text 104"/>
          <p:cNvSpPr txBox="1"/>
          <p:nvPr/>
        </p:nvSpPr>
        <p:spPr>
          <a:xfrm>
            <a:off x="8247888" y="5440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PKR targeting and reporting</a:t>
            </a:r>
            <a:endParaRPr lang="en-US" sz="1200" dirty="0"/>
          </a:p>
        </p:txBody>
      </p:sp>
      <p:sp>
        <p:nvSpPr>
          <p:cNvPr id="29" name="Card 105"/>
          <p:cNvSpPr/>
          <p:nvPr/>
        </p:nvSpPr>
        <p:spPr>
          <a:xfrm>
            <a:off x="9994392" y="480060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106"/>
          <p:cNvSpPr txBox="1"/>
          <p:nvPr/>
        </p:nvSpPr>
        <p:spPr>
          <a:xfrm>
            <a:off x="10085832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1,400,000</a:t>
            </a:r>
            <a:endParaRPr lang="en-US" sz="2200" dirty="0"/>
          </a:p>
        </p:txBody>
      </p:sp>
      <p:sp>
        <p:nvSpPr>
          <p:cNvPr id="31" name="Text 107"/>
          <p:cNvSpPr txBox="1"/>
          <p:nvPr/>
        </p:nvSpPr>
        <p:spPr>
          <a:xfrm>
            <a:off x="10085832" y="5440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PKR digital subtotal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Influencers and PR make the sale a local story</a:t>
            </a:r>
            <a:endParaRPr lang="en-US" sz="3200" dirty="0"/>
          </a:p>
        </p:txBody>
      </p:sp>
      <p:sp>
        <p:nvSpPr>
          <p:cNvPr id="3" name="Text 108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TRUST AND LOCAL REACH</a:t>
            </a:r>
            <a:endParaRPr lang="en-US" sz="1200" dirty="0"/>
          </a:p>
        </p:txBody>
      </p:sp>
      <p:pic>
        <p:nvPicPr>
          <p:cNvPr id="4" name="Image megaphone 109" descr="megaphon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017520" cy="2388296"/>
          </a:xfrm>
          <a:prstGeom prst="rect">
            <a:avLst/>
          </a:prstGeom>
        </p:spPr>
      </p:pic>
      <p:graphicFrame>
        <p:nvGraphicFramePr>
          <p:cNvPr id="7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508760"/>
          <a:ext cx="761695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9476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Illustrative 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Karachi micro-influencers (family, home, budget, wellness lifestyle)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PKR 300,000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mid-size Karachi creators (2 x PKR 150,000)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PKR 300,000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 release (English + Urdu), media briefing, local publicity allowance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PKR 250,000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10"/>
          <p:cNvSpPr txBox="1"/>
          <p:nvPr/>
        </p:nvSpPr>
        <p:spPr>
          <a:xfrm>
            <a:off x="4023360" y="4023360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Influencer and media subtotal: PKR 850,000</a:t>
            </a:r>
            <a:endParaRPr lang="en-US" sz="2200" dirty="0"/>
          </a:p>
        </p:txBody>
      </p:sp>
      <p:sp>
        <p:nvSpPr>
          <p:cNvPr id="7" name="Card 111"/>
          <p:cNvSpPr/>
          <p:nvPr/>
        </p:nvSpPr>
        <p:spPr>
          <a:xfrm>
            <a:off x="4023360" y="4663440"/>
            <a:ext cx="3657600" cy="1508760"/>
          </a:xfrm>
          <a:prstGeom prst="roundRect">
            <a:avLst>
              <a:gd name="adj" fmla="val 7273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8" name="Text 112"/>
          <p:cNvSpPr txBox="1"/>
          <p:nvPr/>
        </p:nvSpPr>
        <p:spPr>
          <a:xfrm>
            <a:off x="4251960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Rules for creators</a:t>
            </a:r>
            <a:endParaRPr lang="en-US" sz="1700" dirty="0"/>
          </a:p>
        </p:txBody>
      </p:sp>
      <p:sp>
        <p:nvSpPr>
          <p:cNvPr id="9" name="Text 113"/>
          <p:cNvSpPr txBox="1"/>
          <p:nvPr/>
        </p:nvSpPr>
        <p:spPr>
          <a:xfrm>
            <a:off x="4251960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 tour, unique codes, paid-partnership labels, and approval before posting. No medical claims.</a:t>
            </a:r>
            <a:endParaRPr lang="en-US" sz="1400" dirty="0"/>
          </a:p>
        </p:txBody>
      </p:sp>
      <p:sp>
        <p:nvSpPr>
          <p:cNvPr id="10" name="Card 114"/>
          <p:cNvSpPr/>
          <p:nvPr/>
        </p:nvSpPr>
        <p:spPr>
          <a:xfrm>
            <a:off x="7982712" y="4663440"/>
            <a:ext cx="36576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115"/>
          <p:cNvSpPr txBox="1"/>
          <p:nvPr/>
        </p:nvSpPr>
        <p:spPr>
          <a:xfrm>
            <a:off x="8211312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Community angle</a:t>
            </a:r>
            <a:endParaRPr lang="en-US" sz="1700" dirty="0"/>
          </a:p>
        </p:txBody>
      </p:sp>
      <p:sp>
        <p:nvSpPr>
          <p:cNvPr id="12" name="Text 116"/>
          <p:cNvSpPr txBox="1"/>
          <p:nvPr/>
        </p:nvSpPr>
        <p:spPr>
          <a:xfrm>
            <a:off x="8211312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Add a story such as a donated ration or hygiene pack. Size is for management to decide.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Put 11.11 in the path of Karachi shoppers</a:t>
            </a:r>
            <a:endParaRPr lang="en-US" sz="3200" dirty="0"/>
          </a:p>
        </p:txBody>
      </p:sp>
      <p:sp>
        <p:nvSpPr>
          <p:cNvPr id="3" name="Text 117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OUTDOOR VISIBILITY</a:t>
            </a:r>
            <a:endParaRPr lang="en-US" sz="1200" dirty="0"/>
          </a:p>
        </p:txBody>
      </p:sp>
      <p:pic>
        <p:nvPicPr>
          <p:cNvPr id="4" name="Image billboard 118" descr="billboard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023360" cy="3720951"/>
          </a:xfrm>
          <a:prstGeom prst="rect">
            <a:avLst/>
          </a:prstGeom>
        </p:spPr>
      </p:pic>
      <p:sp>
        <p:nvSpPr>
          <p:cNvPr id="5" name="Card 119"/>
          <p:cNvSpPr/>
          <p:nvPr/>
        </p:nvSpPr>
        <p:spPr>
          <a:xfrm>
            <a:off x="4937760" y="1508760"/>
            <a:ext cx="21488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120"/>
          <p:cNvSpPr txBox="1"/>
          <p:nvPr/>
        </p:nvSpPr>
        <p:spPr>
          <a:xfrm>
            <a:off x="512064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Media rental</a:t>
            </a:r>
            <a:endParaRPr lang="en-US" sz="1400" dirty="0"/>
          </a:p>
        </p:txBody>
      </p:sp>
      <p:sp>
        <p:nvSpPr>
          <p:cNvPr id="7" name="Text 121"/>
          <p:cNvSpPr txBox="1"/>
          <p:nvPr/>
        </p:nvSpPr>
        <p:spPr>
          <a:xfrm>
            <a:off x="512064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PKR 600,000</a:t>
            </a:r>
            <a:endParaRPr lang="en-US" sz="2100" dirty="0"/>
          </a:p>
        </p:txBody>
      </p:sp>
      <p:sp>
        <p:nvSpPr>
          <p:cNvPr id="8" name="Card 122"/>
          <p:cNvSpPr/>
          <p:nvPr/>
        </p:nvSpPr>
        <p:spPr>
          <a:xfrm>
            <a:off x="7306056" y="1508760"/>
            <a:ext cx="21488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123"/>
          <p:cNvSpPr txBox="1"/>
          <p:nvPr/>
        </p:nvSpPr>
        <p:spPr>
          <a:xfrm>
            <a:off x="7488936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Design and printing</a:t>
            </a:r>
            <a:endParaRPr lang="en-US" sz="1400" dirty="0"/>
          </a:p>
        </p:txBody>
      </p:sp>
      <p:sp>
        <p:nvSpPr>
          <p:cNvPr id="10" name="Text 124"/>
          <p:cNvSpPr txBox="1"/>
          <p:nvPr/>
        </p:nvSpPr>
        <p:spPr>
          <a:xfrm>
            <a:off x="7488936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PKR 150,000</a:t>
            </a:r>
            <a:endParaRPr lang="en-US" sz="2100" dirty="0"/>
          </a:p>
        </p:txBody>
      </p:sp>
      <p:sp>
        <p:nvSpPr>
          <p:cNvPr id="11" name="Card 125"/>
          <p:cNvSpPr/>
          <p:nvPr/>
        </p:nvSpPr>
        <p:spPr>
          <a:xfrm>
            <a:off x="9674352" y="1508760"/>
            <a:ext cx="21488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26"/>
          <p:cNvSpPr txBox="1"/>
          <p:nvPr/>
        </p:nvSpPr>
        <p:spPr>
          <a:xfrm>
            <a:off x="9857232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Installation / removal</a:t>
            </a:r>
            <a:endParaRPr lang="en-US" sz="1400" dirty="0"/>
          </a:p>
        </p:txBody>
      </p:sp>
      <p:sp>
        <p:nvSpPr>
          <p:cNvPr id="13" name="Text 127"/>
          <p:cNvSpPr txBox="1"/>
          <p:nvPr/>
        </p:nvSpPr>
        <p:spPr>
          <a:xfrm>
            <a:off x="9857232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PKR 50,000</a:t>
            </a:r>
            <a:endParaRPr lang="en-US" sz="2100" dirty="0"/>
          </a:p>
        </p:txBody>
      </p:sp>
      <p:sp>
        <p:nvSpPr>
          <p:cNvPr id="14" name="Text 128"/>
          <p:cNvSpPr txBox="1"/>
          <p:nvPr/>
        </p:nvSpPr>
        <p:spPr>
          <a:xfrm>
            <a:off x="4937760" y="30175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Outdoor subtotal: PKR 800,000</a:t>
            </a:r>
            <a:endParaRPr lang="en-US" sz="2200" dirty="0"/>
          </a:p>
        </p:txBody>
      </p:sp>
      <p:sp>
        <p:nvSpPr>
          <p:cNvPr id="15" name="Card 129"/>
          <p:cNvSpPr/>
          <p:nvPr/>
        </p:nvSpPr>
        <p:spPr>
          <a:xfrm>
            <a:off x="4937760" y="3657600"/>
            <a:ext cx="67025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0"/>
          <p:cNvSpPr txBox="1"/>
          <p:nvPr/>
        </p:nvSpPr>
        <p:spPr>
          <a:xfrm>
            <a:off x="5166360" y="3840480"/>
            <a:ext cx="6263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high-traffic shopping streets, branch catchments, bus stops and nearby markets.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Message: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"11.11 Mega Sale", dates, store name and one short line, in Urdu and English with a big logo.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Scan: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QR code or WhatsApp number only where people can stop, such as bus stops.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Final week: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switch to a countdown such as "Only 3 days to go".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Win large, repeat orders and fill slow weekday hours</a:t>
            </a:r>
            <a:endParaRPr lang="en-US" sz="3200" dirty="0"/>
          </a:p>
        </p:txBody>
      </p:sp>
      <p:sp>
        <p:nvSpPr>
          <p:cNvPr id="3" name="Text 13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B2B OUTREACH</a:t>
            </a:r>
            <a:endParaRPr lang="en-US" sz="1200" dirty="0"/>
          </a:p>
        </p:txBody>
      </p:sp>
      <p:pic>
        <p:nvPicPr>
          <p:cNvPr id="4" name="Image truck 132" descr="truck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0" cy="2014071"/>
          </a:xfrm>
          <a:prstGeom prst="rect">
            <a:avLst/>
          </a:prstGeom>
        </p:spPr>
      </p:pic>
      <p:sp>
        <p:nvSpPr>
          <p:cNvPr id="5" name="Card 133"/>
          <p:cNvSpPr/>
          <p:nvPr/>
        </p:nvSpPr>
        <p:spPr>
          <a:xfrm>
            <a:off x="548640" y="384048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134"/>
          <p:cNvSpPr txBox="1"/>
          <p:nvPr/>
        </p:nvSpPr>
        <p:spPr>
          <a:xfrm>
            <a:off x="777240" y="4005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Target businesses</a:t>
            </a:r>
            <a:endParaRPr lang="en-US" sz="1700" dirty="0"/>
          </a:p>
        </p:txBody>
      </p:sp>
      <p:sp>
        <p:nvSpPr>
          <p:cNvPr id="7" name="Text 135"/>
          <p:cNvSpPr txBox="1"/>
          <p:nvPr/>
        </p:nvSpPr>
        <p:spPr>
          <a:xfrm>
            <a:off x="777240" y="4434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Clinics and small hospitals (everyday non-prescription supplies), offices, schools, hotels, restaurants, caterers and small shops.</a:t>
            </a:r>
            <a:endParaRPr lang="en-US" sz="1400" dirty="0"/>
          </a:p>
        </p:txBody>
      </p:sp>
      <p:graphicFrame>
        <p:nvGraphicFramePr>
          <p:cNvPr id="9" name="B2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508760"/>
          <a:ext cx="6611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0391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Offer sheets, brochures and printing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PKR 100,000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Sales visits, transport and staff 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PKR 150,000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Samples and Trade Day (5 November)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PKR 150,000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136"/>
          <p:cNvSpPr txBox="1"/>
          <p:nvPr/>
        </p:nvSpPr>
        <p:spPr>
          <a:xfrm>
            <a:off x="5029200" y="3657600"/>
            <a:ext cx="6611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B2B subtotal: PKR 400,000</a:t>
            </a:r>
            <a:endParaRPr lang="en-US" sz="2200" dirty="0"/>
          </a:p>
        </p:txBody>
      </p:sp>
      <p:sp>
        <p:nvSpPr>
          <p:cNvPr id="10" name="Card 137"/>
          <p:cNvSpPr/>
          <p:nvPr/>
        </p:nvSpPr>
        <p:spPr>
          <a:xfrm>
            <a:off x="5029200" y="4343400"/>
            <a:ext cx="6611112" cy="1783080"/>
          </a:xfrm>
          <a:prstGeom prst="roundRect">
            <a:avLst>
              <a:gd name="adj" fmla="val 6154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1" name="Text 138"/>
          <p:cNvSpPr txBox="1"/>
          <p:nvPr/>
        </p:nvSpPr>
        <p:spPr>
          <a:xfrm>
            <a:off x="5257800" y="4507992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Execution</a:t>
            </a:r>
            <a:endParaRPr lang="en-US" sz="1700" dirty="0"/>
          </a:p>
        </p:txBody>
      </p:sp>
      <p:sp>
        <p:nvSpPr>
          <p:cNvPr id="12" name="Text 139"/>
          <p:cNvSpPr txBox="1"/>
          <p:nvPr/>
        </p:nvSpPr>
        <p:spPr>
          <a:xfrm>
            <a:off x="5257800" y="4937760"/>
            <a:ext cx="6153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Business order desk or WhatsApp number, offer sheet, samples and a Trade Day on 5 November. Prices and discounts to be confirmed by management.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Make the sale tangible before it starts</a:t>
            </a:r>
            <a:endParaRPr lang="en-US" sz="3200" dirty="0"/>
          </a:p>
        </p:txBody>
      </p:sp>
      <p:sp>
        <p:nvSpPr>
          <p:cNvPr id="3" name="Text 14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POP-UPS AND HEALTH CAMPS</a:t>
            </a:r>
            <a:endParaRPr lang="en-US" sz="1200" dirty="0"/>
          </a:p>
        </p:txBody>
      </p:sp>
      <p:pic>
        <p:nvPicPr>
          <p:cNvPr id="4" name="Image stall 141" descr="stall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377440" cy="1961776"/>
          </a:xfrm>
          <a:prstGeom prst="rect">
            <a:avLst/>
          </a:prstGeom>
        </p:spPr>
      </p:pic>
      <p:sp>
        <p:nvSpPr>
          <p:cNvPr id="5" name="Text 142"/>
          <p:cNvSpPr txBox="1"/>
          <p:nvPr/>
        </p:nvSpPr>
        <p:spPr>
          <a:xfrm>
            <a:off x="338328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 stalls x 5 days = PKR 800,000</a:t>
            </a:r>
            <a:endParaRPr lang="en-US" sz="2800" dirty="0"/>
          </a:p>
        </p:txBody>
      </p:sp>
      <p:sp>
        <p:nvSpPr>
          <p:cNvPr id="6" name="Text 143"/>
          <p:cNvSpPr txBox="1"/>
          <p:nvPr/>
        </p:nvSpPr>
        <p:spPr>
          <a:xfrm>
            <a:off x="338328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Key risks: permits, trained staff, crowd control, weather, traffic and security. Coupon values and prizes need management confirmation.</a:t>
            </a:r>
            <a:endParaRPr lang="en-US" sz="1500" dirty="0"/>
          </a:p>
        </p:txBody>
      </p:sp>
      <p:sp>
        <p:nvSpPr>
          <p:cNvPr id="7" name="Card 144"/>
          <p:cNvSpPr/>
          <p:nvPr/>
        </p:nvSpPr>
        <p:spPr>
          <a:xfrm>
            <a:off x="548640" y="3611880"/>
            <a:ext cx="3511296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145"/>
          <p:cNvSpPr txBox="1"/>
          <p:nvPr/>
        </p:nvSpPr>
        <p:spPr>
          <a:xfrm>
            <a:off x="777240" y="37764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Invite</a:t>
            </a:r>
            <a:endParaRPr lang="en-US" sz="1700" dirty="0"/>
          </a:p>
        </p:txBody>
      </p:sp>
      <p:sp>
        <p:nvSpPr>
          <p:cNvPr id="9" name="Text 146"/>
          <p:cNvSpPr txBox="1"/>
          <p:nvPr/>
        </p:nvSpPr>
        <p:spPr>
          <a:xfrm>
            <a:off x="777240" y="420624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About 5 branded stalls for 5 days at nearby markets, universities, offices and housing societies, with permission.</a:t>
            </a:r>
            <a:endParaRPr lang="en-US" sz="1500" dirty="0"/>
          </a:p>
        </p:txBody>
      </p:sp>
      <p:sp>
        <p:nvSpPr>
          <p:cNvPr id="10" name="Card 147"/>
          <p:cNvSpPr/>
          <p:nvPr/>
        </p:nvSpPr>
        <p:spPr>
          <a:xfrm>
            <a:off x="4334256" y="3611880"/>
            <a:ext cx="3511296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148"/>
          <p:cNvSpPr txBox="1"/>
          <p:nvPr/>
        </p:nvSpPr>
        <p:spPr>
          <a:xfrm>
            <a:off x="4562856" y="37764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Engage</a:t>
            </a:r>
            <a:endParaRPr lang="en-US" sz="1700" dirty="0"/>
          </a:p>
        </p:txBody>
      </p:sp>
      <p:sp>
        <p:nvSpPr>
          <p:cNvPr id="12" name="Text 149"/>
          <p:cNvSpPr txBox="1"/>
          <p:nvPr/>
        </p:nvSpPr>
        <p:spPr>
          <a:xfrm>
            <a:off x="4562856" y="420624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Free wellness-awareness checks run by qualified staff, samples of grocery and personal-care items, spin-the-wheel, quiz and kids corner.</a:t>
            </a:r>
            <a:endParaRPr lang="en-US" sz="1500" dirty="0"/>
          </a:p>
        </p:txBody>
      </p:sp>
      <p:sp>
        <p:nvSpPr>
          <p:cNvPr id="13" name="Card 150"/>
          <p:cNvSpPr/>
          <p:nvPr/>
        </p:nvSpPr>
        <p:spPr>
          <a:xfrm>
            <a:off x="8119872" y="3611880"/>
            <a:ext cx="3511296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51"/>
          <p:cNvSpPr txBox="1"/>
          <p:nvPr/>
        </p:nvSpPr>
        <p:spPr>
          <a:xfrm>
            <a:off x="8348472" y="37764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Convert</a:t>
            </a:r>
            <a:endParaRPr lang="en-US" sz="1700" dirty="0"/>
          </a:p>
        </p:txBody>
      </p:sp>
      <p:sp>
        <p:nvSpPr>
          <p:cNvPr id="15" name="Text 152"/>
          <p:cNvSpPr txBox="1"/>
          <p:nvPr/>
        </p:nvSpPr>
        <p:spPr>
          <a:xfrm>
            <a:off x="8348472" y="420624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Collect names and WhatsApp numbers with permission, hand out flyers or coupons, run an in-store event day and capture content.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Turn 11.11 shoppers into repeat customers</a:t>
            </a:r>
            <a:endParaRPr lang="en-US" sz="3200" dirty="0"/>
          </a:p>
        </p:txBody>
      </p:sp>
      <p:sp>
        <p:nvSpPr>
          <p:cNvPr id="3" name="Text 153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RETENTION</a:t>
            </a:r>
            <a:endParaRPr lang="en-US" sz="1200" dirty="0"/>
          </a:p>
        </p:txBody>
      </p:sp>
      <p:pic>
        <p:nvPicPr>
          <p:cNvPr id="4" name="Image card 154" descr="card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383280" cy="2366085"/>
          </a:xfrm>
          <a:prstGeom prst="rect">
            <a:avLst/>
          </a:prstGeom>
        </p:spPr>
      </p:pic>
      <p:sp>
        <p:nvSpPr>
          <p:cNvPr id="5" name="Card 155"/>
          <p:cNvSpPr/>
          <p:nvPr/>
        </p:nvSpPr>
        <p:spPr>
          <a:xfrm>
            <a:off x="548640" y="425196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156"/>
          <p:cNvSpPr txBox="1"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Retention budget</a:t>
            </a:r>
            <a:endParaRPr lang="en-US" sz="1600" dirty="0"/>
          </a:p>
        </p:txBody>
      </p:sp>
      <p:sp>
        <p:nvSpPr>
          <p:cNvPr id="7" name="Text 157"/>
          <p:cNvSpPr txBox="1"/>
          <p:nvPr/>
        </p:nvSpPr>
        <p:spPr>
          <a:xfrm>
            <a:off x="77724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PKR 500,000</a:t>
            </a:r>
            <a:endParaRPr lang="en-US" sz="3200" dirty="0"/>
          </a:p>
        </p:txBody>
      </p:sp>
      <p:sp>
        <p:nvSpPr>
          <p:cNvPr id="8" name="Card 158"/>
          <p:cNvSpPr/>
          <p:nvPr/>
        </p:nvSpPr>
        <p:spPr>
          <a:xfrm>
            <a:off x="4572000" y="1508760"/>
            <a:ext cx="7068312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 159"/>
          <p:cNvSpPr/>
          <p:nvPr/>
        </p:nvSpPr>
        <p:spPr>
          <a:xfrm>
            <a:off x="4800600" y="179222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160"/>
          <p:cNvSpPr txBox="1"/>
          <p:nvPr/>
        </p:nvSpPr>
        <p:spPr>
          <a:xfrm>
            <a:off x="4800600" y="1792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161"/>
          <p:cNvSpPr txBox="1"/>
          <p:nvPr/>
        </p:nvSpPr>
        <p:spPr>
          <a:xfrm>
            <a:off x="5623560" y="1618488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 checkout</a:t>
            </a:r>
            <a:endParaRPr lang="en-US" sz="1800" dirty="0"/>
          </a:p>
        </p:txBody>
      </p:sp>
      <p:sp>
        <p:nvSpPr>
          <p:cNvPr id="12" name="Text 162"/>
          <p:cNvSpPr txBox="1"/>
          <p:nvPr/>
        </p:nvSpPr>
        <p:spPr>
          <a:xfrm>
            <a:off x="5623560" y="1965960"/>
            <a:ext cx="5788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loyalty or membership card; capture details with permission.</a:t>
            </a:r>
            <a:endParaRPr lang="en-US" sz="1400" dirty="0"/>
          </a:p>
        </p:txBody>
      </p:sp>
      <p:sp>
        <p:nvSpPr>
          <p:cNvPr id="13" name="Card 163"/>
          <p:cNvSpPr/>
          <p:nvPr/>
        </p:nvSpPr>
        <p:spPr>
          <a:xfrm>
            <a:off x="4572000" y="2880360"/>
            <a:ext cx="7068312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le 164"/>
          <p:cNvSpPr/>
          <p:nvPr/>
        </p:nvSpPr>
        <p:spPr>
          <a:xfrm>
            <a:off x="4800600" y="316382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65"/>
          <p:cNvSpPr txBox="1"/>
          <p:nvPr/>
        </p:nvSpPr>
        <p:spPr>
          <a:xfrm>
            <a:off x="4800600" y="3163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66"/>
          <p:cNvSpPr txBox="1"/>
          <p:nvPr/>
        </p:nvSpPr>
        <p:spPr>
          <a:xfrm>
            <a:off x="5623560" y="2990088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After the sale</a:t>
            </a:r>
            <a:endParaRPr lang="en-US" sz="1800" dirty="0"/>
          </a:p>
        </p:txBody>
      </p:sp>
      <p:sp>
        <p:nvSpPr>
          <p:cNvPr id="17" name="Text 167"/>
          <p:cNvSpPr txBox="1"/>
          <p:nvPr/>
        </p:nvSpPr>
        <p:spPr>
          <a:xfrm>
            <a:off x="5623560" y="3337560"/>
            <a:ext cx="5788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Thank-you message within 24 hours, feedback survey, follow-up promotion and a come-back voucher.</a:t>
            </a:r>
            <a:endParaRPr lang="en-US" sz="1400" dirty="0"/>
          </a:p>
        </p:txBody>
      </p:sp>
      <p:sp>
        <p:nvSpPr>
          <p:cNvPr id="18" name="Card 168"/>
          <p:cNvSpPr/>
          <p:nvPr/>
        </p:nvSpPr>
        <p:spPr>
          <a:xfrm>
            <a:off x="4572000" y="4251960"/>
            <a:ext cx="7068312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le 169"/>
          <p:cNvSpPr/>
          <p:nvPr/>
        </p:nvSpPr>
        <p:spPr>
          <a:xfrm>
            <a:off x="4800600" y="453542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0"/>
          <p:cNvSpPr txBox="1"/>
          <p:nvPr/>
        </p:nvSpPr>
        <p:spPr>
          <a:xfrm>
            <a:off x="4800600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71"/>
          <p:cNvSpPr txBox="1"/>
          <p:nvPr/>
        </p:nvSpPr>
        <p:spPr>
          <a:xfrm>
            <a:off x="5623560" y="4361688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the relationship</a:t>
            </a:r>
            <a:endParaRPr lang="en-US" sz="1800" dirty="0"/>
          </a:p>
        </p:txBody>
      </p:sp>
      <p:sp>
        <p:nvSpPr>
          <p:cNvPr id="22" name="Text 172"/>
          <p:cNvSpPr txBox="1"/>
          <p:nvPr/>
        </p:nvSpPr>
        <p:spPr>
          <a:xfrm>
            <a:off x="5623560" y="4709160"/>
            <a:ext cx="5788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Birthday messages, monthly offers, opt-in refill reminders and a first loyalty report.</a:t>
            </a:r>
            <a:endParaRPr lang="en-US" sz="1400" dirty="0"/>
          </a:p>
        </p:txBody>
      </p:sp>
      <p:sp>
        <p:nvSpPr>
          <p:cNvPr id="23" name="Text 173"/>
          <p:cNvSpPr txBox="1"/>
          <p:nvPr/>
        </p:nvSpPr>
        <p:spPr>
          <a:xfrm>
            <a:off x="4572000" y="5715000"/>
            <a:ext cx="7068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 rules and voucher value remain for management to confirm.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Five phases from planning to retention</a:t>
            </a:r>
            <a:endParaRPr lang="en-US" sz="3200" dirty="0"/>
          </a:p>
        </p:txBody>
      </p:sp>
      <p:sp>
        <p:nvSpPr>
          <p:cNvPr id="3" name="Text 174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4" name="Timeline"/>
          <p:cNvSpPr/>
          <p:nvPr/>
        </p:nvSpPr>
        <p:spPr>
          <a:xfrm>
            <a:off x="914400" y="1938528"/>
            <a:ext cx="1042416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ircle 175"/>
          <p:cNvSpPr/>
          <p:nvPr/>
        </p:nvSpPr>
        <p:spPr>
          <a:xfrm>
            <a:off x="132588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176"/>
          <p:cNvSpPr txBox="1"/>
          <p:nvPr/>
        </p:nvSpPr>
        <p:spPr>
          <a:xfrm>
            <a:off x="13258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177"/>
          <p:cNvSpPr txBox="1"/>
          <p:nvPr/>
        </p:nvSpPr>
        <p:spPr>
          <a:xfrm>
            <a:off x="54864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</a:t>
            </a:r>
            <a:endParaRPr lang="en-US" sz="2000" dirty="0"/>
          </a:p>
        </p:txBody>
      </p:sp>
      <p:sp>
        <p:nvSpPr>
          <p:cNvPr id="8" name="Text 178"/>
          <p:cNvSpPr txBox="1"/>
          <p:nvPr/>
        </p:nvSpPr>
        <p:spPr>
          <a:xfrm>
            <a:off x="54864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16-23 Oct</a:t>
            </a:r>
            <a:endParaRPr lang="en-US" sz="1500" dirty="0"/>
          </a:p>
        </p:txBody>
      </p:sp>
      <p:sp>
        <p:nvSpPr>
          <p:cNvPr id="9" name="Card 179"/>
          <p:cNvSpPr/>
          <p:nvPr/>
        </p:nvSpPr>
        <p:spPr>
          <a:xfrm>
            <a:off x="548640" y="3429000"/>
            <a:ext cx="21031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180"/>
          <p:cNvSpPr txBox="1"/>
          <p:nvPr/>
        </p:nvSpPr>
        <p:spPr>
          <a:xfrm>
            <a:off x="685800" y="3566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offers, dates, billboards, creators, content and tracking. Pharmacist sign-off on offers.</a:t>
            </a:r>
            <a:endParaRPr lang="en-US" sz="1400" dirty="0"/>
          </a:p>
        </p:txBody>
      </p:sp>
      <p:sp>
        <p:nvSpPr>
          <p:cNvPr id="11" name="Circle 181"/>
          <p:cNvSpPr/>
          <p:nvPr/>
        </p:nvSpPr>
        <p:spPr>
          <a:xfrm>
            <a:off x="3575304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82"/>
          <p:cNvSpPr txBox="1"/>
          <p:nvPr/>
        </p:nvSpPr>
        <p:spPr>
          <a:xfrm>
            <a:off x="3575304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83"/>
          <p:cNvSpPr txBox="1"/>
          <p:nvPr/>
        </p:nvSpPr>
        <p:spPr>
          <a:xfrm>
            <a:off x="2798064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Teaser</a:t>
            </a:r>
            <a:endParaRPr lang="en-US" sz="2000" dirty="0"/>
          </a:p>
        </p:txBody>
      </p:sp>
      <p:sp>
        <p:nvSpPr>
          <p:cNvPr id="14" name="Text 184"/>
          <p:cNvSpPr txBox="1"/>
          <p:nvPr/>
        </p:nvSpPr>
        <p:spPr>
          <a:xfrm>
            <a:off x="2798064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24 Oct - 2 Nov</a:t>
            </a:r>
            <a:endParaRPr lang="en-US" sz="1500" dirty="0"/>
          </a:p>
        </p:txBody>
      </p:sp>
      <p:sp>
        <p:nvSpPr>
          <p:cNvPr id="15" name="Card 185"/>
          <p:cNvSpPr/>
          <p:nvPr/>
        </p:nvSpPr>
        <p:spPr>
          <a:xfrm>
            <a:off x="2798064" y="3429000"/>
            <a:ext cx="21031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86"/>
          <p:cNvSpPr txBox="1"/>
          <p:nvPr/>
        </p:nvSpPr>
        <p:spPr>
          <a:xfrm>
            <a:off x="2935224" y="3566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Billboards live, press release, first creator and digital posts, B2B visits.</a:t>
            </a:r>
            <a:endParaRPr lang="en-US" sz="1400" dirty="0"/>
          </a:p>
        </p:txBody>
      </p:sp>
      <p:sp>
        <p:nvSpPr>
          <p:cNvPr id="17" name="Circle 187"/>
          <p:cNvSpPr/>
          <p:nvPr/>
        </p:nvSpPr>
        <p:spPr>
          <a:xfrm>
            <a:off x="582472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88"/>
          <p:cNvSpPr txBox="1"/>
          <p:nvPr/>
        </p:nvSpPr>
        <p:spPr>
          <a:xfrm>
            <a:off x="582472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89"/>
          <p:cNvSpPr txBox="1"/>
          <p:nvPr/>
        </p:nvSpPr>
        <p:spPr>
          <a:xfrm>
            <a:off x="5047488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Countdown</a:t>
            </a:r>
            <a:endParaRPr lang="en-US" sz="2000" dirty="0"/>
          </a:p>
        </p:txBody>
      </p:sp>
      <p:sp>
        <p:nvSpPr>
          <p:cNvPr id="20" name="Text 190"/>
          <p:cNvSpPr txBox="1"/>
          <p:nvPr/>
        </p:nvSpPr>
        <p:spPr>
          <a:xfrm>
            <a:off x="5047488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3-10 Nov</a:t>
            </a:r>
            <a:endParaRPr lang="en-US" sz="1500" dirty="0"/>
          </a:p>
        </p:txBody>
      </p:sp>
      <p:sp>
        <p:nvSpPr>
          <p:cNvPr id="21" name="Card 191"/>
          <p:cNvSpPr/>
          <p:nvPr/>
        </p:nvSpPr>
        <p:spPr>
          <a:xfrm>
            <a:off x="5047488" y="3429000"/>
            <a:ext cx="21031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2"/>
          <p:cNvSpPr txBox="1"/>
          <p:nvPr/>
        </p:nvSpPr>
        <p:spPr>
          <a:xfrm>
            <a:off x="5184648" y="3566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 briefing 4 Nov, Trade Day 5 Nov, pop-ups, daily countdown, higher ad spend.</a:t>
            </a:r>
            <a:endParaRPr lang="en-US" sz="1400" dirty="0"/>
          </a:p>
        </p:txBody>
      </p:sp>
      <p:sp>
        <p:nvSpPr>
          <p:cNvPr id="23" name="Circle 193"/>
          <p:cNvSpPr/>
          <p:nvPr/>
        </p:nvSpPr>
        <p:spPr>
          <a:xfrm>
            <a:off x="8074152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4"/>
          <p:cNvSpPr txBox="1"/>
          <p:nvPr/>
        </p:nvSpPr>
        <p:spPr>
          <a:xfrm>
            <a:off x="8074152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5" name="Text 195"/>
          <p:cNvSpPr txBox="1"/>
          <p:nvPr/>
        </p:nvSpPr>
        <p:spPr>
          <a:xfrm>
            <a:off x="7296912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Sale</a:t>
            </a:r>
            <a:endParaRPr lang="en-US" sz="2000" dirty="0"/>
          </a:p>
        </p:txBody>
      </p:sp>
      <p:sp>
        <p:nvSpPr>
          <p:cNvPr id="26" name="Text 196"/>
          <p:cNvSpPr txBox="1"/>
          <p:nvPr/>
        </p:nvSpPr>
        <p:spPr>
          <a:xfrm>
            <a:off x="729691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11-15 Nov</a:t>
            </a:r>
            <a:endParaRPr lang="en-US" sz="1500" dirty="0"/>
          </a:p>
        </p:txBody>
      </p:sp>
      <p:sp>
        <p:nvSpPr>
          <p:cNvPr id="27" name="Card 197"/>
          <p:cNvSpPr/>
          <p:nvPr/>
        </p:nvSpPr>
        <p:spPr>
          <a:xfrm>
            <a:off x="7296912" y="3429000"/>
            <a:ext cx="21031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198"/>
          <p:cNvSpPr txBox="1"/>
          <p:nvPr/>
        </p:nvSpPr>
        <p:spPr>
          <a:xfrm>
            <a:off x="7434072" y="3566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Launch day, live posts, in-store event, bulk deliveries, sampling, fast replies.</a:t>
            </a:r>
            <a:endParaRPr lang="en-US" sz="1400" dirty="0"/>
          </a:p>
        </p:txBody>
      </p:sp>
      <p:sp>
        <p:nvSpPr>
          <p:cNvPr id="29" name="Circle 199"/>
          <p:cNvSpPr/>
          <p:nvPr/>
        </p:nvSpPr>
        <p:spPr>
          <a:xfrm>
            <a:off x="10323576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00"/>
          <p:cNvSpPr txBox="1"/>
          <p:nvPr/>
        </p:nvSpPr>
        <p:spPr>
          <a:xfrm>
            <a:off x="1032357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31" name="Text 201"/>
          <p:cNvSpPr txBox="1"/>
          <p:nvPr/>
        </p:nvSpPr>
        <p:spPr>
          <a:xfrm>
            <a:off x="9546336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Retain</a:t>
            </a:r>
            <a:endParaRPr lang="en-US" sz="2000" dirty="0"/>
          </a:p>
        </p:txBody>
      </p:sp>
      <p:sp>
        <p:nvSpPr>
          <p:cNvPr id="32" name="Text 202"/>
          <p:cNvSpPr txBox="1"/>
          <p:nvPr/>
        </p:nvSpPr>
        <p:spPr>
          <a:xfrm>
            <a:off x="9546336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16-30 Nov</a:t>
            </a:r>
            <a:endParaRPr lang="en-US" sz="1500" dirty="0"/>
          </a:p>
        </p:txBody>
      </p:sp>
      <p:sp>
        <p:nvSpPr>
          <p:cNvPr id="33" name="Card 203"/>
          <p:cNvSpPr/>
          <p:nvPr/>
        </p:nvSpPr>
        <p:spPr>
          <a:xfrm>
            <a:off x="9546336" y="3429000"/>
            <a:ext cx="21031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204"/>
          <p:cNvSpPr txBox="1"/>
          <p:nvPr/>
        </p:nvSpPr>
        <p:spPr>
          <a:xfrm>
            <a:off x="9683496" y="3566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Thank-you messages, remarketing, surveys, vouchers and the final results report.</a:t>
            </a:r>
            <a:endParaRPr lang="en-US" sz="1400" dirty="0"/>
          </a:p>
        </p:txBody>
      </p:sp>
      <p:sp>
        <p:nvSpPr>
          <p:cNvPr id="35" name="Card 205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36" name="Text 206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Measure: shoppers, average basket size, bulk orders, new loyalty members, coupon or creator-code use, reach and repeat visits.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PKR 5,853,500 before any management changes</a:t>
            </a:r>
            <a:endParaRPr lang="en-US" sz="3200" dirty="0"/>
          </a:p>
        </p:txBody>
      </p:sp>
      <p:sp>
        <p:nvSpPr>
          <p:cNvPr id="3" name="Text 207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ILLUSTRATIVE COST SUMMARY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208"/>
          <p:cNvSpPr/>
          <p:nvPr/>
        </p:nvSpPr>
        <p:spPr>
          <a:xfrm>
            <a:off x="7772400" y="1508760"/>
            <a:ext cx="386791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09"/>
          <p:cNvSpPr txBox="1"/>
          <p:nvPr/>
        </p:nvSpPr>
        <p:spPr>
          <a:xfrm>
            <a:off x="80010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DIRECT CAMPAIGN EXPENSES</a:t>
            </a:r>
            <a:endParaRPr lang="en-US" sz="1200" dirty="0"/>
          </a:p>
        </p:txBody>
      </p:sp>
      <p:sp>
        <p:nvSpPr>
          <p:cNvPr id="7" name="Text 210"/>
          <p:cNvSpPr txBox="1"/>
          <p:nvPr/>
        </p:nvSpPr>
        <p:spPr>
          <a:xfrm>
            <a:off x="80010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PKR 5,090,000</a:t>
            </a:r>
            <a:endParaRPr lang="en-US" sz="2600" dirty="0"/>
          </a:p>
        </p:txBody>
      </p:sp>
      <p:sp>
        <p:nvSpPr>
          <p:cNvPr id="8" name="Card 211"/>
          <p:cNvSpPr/>
          <p:nvPr/>
        </p:nvSpPr>
        <p:spPr>
          <a:xfrm>
            <a:off x="7772400" y="2697480"/>
            <a:ext cx="386791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212"/>
          <p:cNvSpPr txBox="1"/>
          <p:nvPr/>
        </p:nvSpPr>
        <p:spPr>
          <a:xfrm>
            <a:off x="800100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AGENCY SERVICE FEE (10%)</a:t>
            </a:r>
            <a:endParaRPr lang="en-US" sz="1200" dirty="0"/>
          </a:p>
        </p:txBody>
      </p:sp>
      <p:sp>
        <p:nvSpPr>
          <p:cNvPr id="10" name="Text 213"/>
          <p:cNvSpPr txBox="1"/>
          <p:nvPr/>
        </p:nvSpPr>
        <p:spPr>
          <a:xfrm>
            <a:off x="800100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PKR 509,000</a:t>
            </a:r>
            <a:endParaRPr lang="en-US" sz="2600" dirty="0"/>
          </a:p>
        </p:txBody>
      </p:sp>
      <p:sp>
        <p:nvSpPr>
          <p:cNvPr id="11" name="Card 214"/>
          <p:cNvSpPr/>
          <p:nvPr/>
        </p:nvSpPr>
        <p:spPr>
          <a:xfrm>
            <a:off x="7772400" y="3886200"/>
            <a:ext cx="386791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215"/>
          <p:cNvSpPr txBox="1"/>
          <p:nvPr/>
        </p:nvSpPr>
        <p:spPr>
          <a:xfrm>
            <a:off x="800100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CONTINGENCY ALLOWANCE (5%)</a:t>
            </a:r>
            <a:endParaRPr lang="en-US" sz="1200" dirty="0"/>
          </a:p>
        </p:txBody>
      </p:sp>
      <p:sp>
        <p:nvSpPr>
          <p:cNvPr id="13" name="Text 216"/>
          <p:cNvSpPr txBox="1"/>
          <p:nvPr/>
        </p:nvSpPr>
        <p:spPr>
          <a:xfrm>
            <a:off x="800100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PKR 254,500</a:t>
            </a:r>
            <a:endParaRPr lang="en-US" sz="2600" dirty="0"/>
          </a:p>
        </p:txBody>
      </p:sp>
      <p:sp>
        <p:nvSpPr>
          <p:cNvPr id="14" name="Card 217"/>
          <p:cNvSpPr/>
          <p:nvPr/>
        </p:nvSpPr>
        <p:spPr>
          <a:xfrm>
            <a:off x="7772400" y="5074920"/>
            <a:ext cx="3867912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218"/>
          <p:cNvSpPr txBox="1"/>
          <p:nvPr/>
        </p:nvSpPr>
        <p:spPr>
          <a:xfrm>
            <a:off x="8001000" y="5212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GRAND TOTAL</a:t>
            </a:r>
            <a:endParaRPr lang="en-US" sz="1200" dirty="0"/>
          </a:p>
        </p:txBody>
      </p:sp>
      <p:sp>
        <p:nvSpPr>
          <p:cNvPr id="16" name="Text 219"/>
          <p:cNvSpPr txBox="1"/>
          <p:nvPr/>
        </p:nvSpPr>
        <p:spPr>
          <a:xfrm>
            <a:off x="800100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PKR 5,853,500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Approval turns the estimate into a November campaign</a:t>
            </a:r>
            <a:endParaRPr lang="en-US" sz="3200" dirty="0"/>
          </a:p>
        </p:txBody>
      </p:sp>
      <p:sp>
        <p:nvSpPr>
          <p:cNvPr id="3" name="Text 22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APPROVAL</a:t>
            </a:r>
            <a:endParaRPr lang="en-US" sz="1200" dirty="0"/>
          </a:p>
        </p:txBody>
      </p:sp>
      <p:sp>
        <p:nvSpPr>
          <p:cNvPr id="4" name="Card 221"/>
          <p:cNvSpPr/>
          <p:nvPr/>
        </p:nvSpPr>
        <p:spPr>
          <a:xfrm>
            <a:off x="548640" y="1554480"/>
            <a:ext cx="3511296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22"/>
          <p:cNvSpPr txBox="1"/>
          <p:nvPr/>
        </p:nvSpPr>
        <p:spPr>
          <a:xfrm>
            <a:off x="7772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Final estimated budget</a:t>
            </a:r>
            <a:endParaRPr lang="en-US" sz="1700" dirty="0"/>
          </a:p>
        </p:txBody>
      </p:sp>
      <p:sp>
        <p:nvSpPr>
          <p:cNvPr id="6" name="Text 223"/>
          <p:cNvSpPr txBox="1"/>
          <p:nvPr/>
        </p:nvSpPr>
        <p:spPr>
          <a:xfrm>
            <a:off x="77724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PKR 5,853,500</a:t>
            </a:r>
            <a:endParaRPr lang="en-US" sz="3000" dirty="0"/>
          </a:p>
        </p:txBody>
      </p:sp>
      <p:sp>
        <p:nvSpPr>
          <p:cNvPr id="7" name="Text 224"/>
          <p:cNvSpPr txBox="1"/>
          <p:nvPr/>
        </p:nvSpPr>
        <p:spPr>
          <a:xfrm>
            <a:off x="77724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Proposal valid for 15 days from presentation.</a:t>
            </a:r>
            <a:endParaRPr lang="en-US" sz="1400" dirty="0"/>
          </a:p>
        </p:txBody>
      </p:sp>
      <p:sp>
        <p:nvSpPr>
          <p:cNvPr id="8" name="Card 225"/>
          <p:cNvSpPr/>
          <p:nvPr/>
        </p:nvSpPr>
        <p:spPr>
          <a:xfrm>
            <a:off x="4334256" y="1554480"/>
            <a:ext cx="3511296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226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Payment schedule</a:t>
            </a:r>
            <a:endParaRPr lang="en-US" sz="1700" dirty="0"/>
          </a:p>
        </p:txBody>
      </p:sp>
      <p:sp>
        <p:nvSpPr>
          <p:cNvPr id="10" name="Text 227"/>
          <p:cNvSpPr txBox="1"/>
          <p:nvPr/>
        </p:nvSpPr>
        <p:spPr>
          <a:xfrm>
            <a:off x="4572000" y="22860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40% advance: PKR 2,341,400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40% before launch: PKR 2,341,400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20% after completion: PKR 1,170,700</a:t>
            </a:r>
            <a:endParaRPr lang="en-US" sz="1500" dirty="0"/>
          </a:p>
        </p:txBody>
      </p:sp>
      <p:sp>
        <p:nvSpPr>
          <p:cNvPr id="11" name="Card 228"/>
          <p:cNvSpPr/>
          <p:nvPr/>
        </p:nvSpPr>
        <p:spPr>
          <a:xfrm>
            <a:off x="8119872" y="1554480"/>
            <a:ext cx="3511296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229"/>
          <p:cNvSpPr txBox="1"/>
          <p:nvPr/>
        </p:nvSpPr>
        <p:spPr>
          <a:xfrm>
            <a:off x="83667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Expected benefits</a:t>
            </a:r>
            <a:endParaRPr lang="en-US" sz="1700" dirty="0"/>
          </a:p>
        </p:txBody>
      </p:sp>
      <p:sp>
        <p:nvSpPr>
          <p:cNvPr id="13" name="Text 230"/>
          <p:cNvSpPr txBox="1"/>
          <p:nvPr/>
        </p:nvSpPr>
        <p:spPr>
          <a:xfrm>
            <a:off x="8366760" y="22860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Stronger awareness, measurable reach, more store visits, bulk-order leads and repeat engagement. Results are not guaranteed.</a:t>
            </a:r>
            <a:endParaRPr lang="en-US" sz="1400" dirty="0"/>
          </a:p>
        </p:txBody>
      </p:sp>
      <p:pic>
        <p:nvPicPr>
          <p:cNvPr id="14" name="Image bag 231" descr="bag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43400"/>
            <a:ext cx="2377440" cy="1662654"/>
          </a:xfrm>
          <a:prstGeom prst="rect">
            <a:avLst/>
          </a:prstGeom>
        </p:spPr>
      </p:pic>
      <p:sp>
        <p:nvSpPr>
          <p:cNvPr id="15" name="Text 232"/>
          <p:cNvSpPr txBox="1"/>
          <p:nvPr/>
        </p:nvSpPr>
        <p:spPr>
          <a:xfrm>
            <a:off x="338328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Client approval: ______________________________      Date: ______________</a:t>
            </a:r>
            <a:endParaRPr lang="en-US" sz="1800" dirty="0"/>
          </a:p>
        </p:txBody>
      </p:sp>
      <p:sp>
        <p:nvSpPr>
          <p:cNvPr id="16" name="Text 233"/>
          <p:cNvSpPr txBox="1"/>
          <p:nvPr/>
        </p:nvSpPr>
        <p:spPr>
          <a:xfrm>
            <a:off x="3383280" y="5120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All amounts are illustrative estimates for an academic proposal, not vendor quotations. Offers, discounts, coupon values and rewards require management confirmation.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faya 11.11">
  <a:themeElements>
    <a:clrScheme name="Kifaya 11.11">
      <a:dk1>
        <a:srgbClr val="1F2D2A"/>
      </a:dk1>
      <a:lt1>
        <a:srgbClr val="FFFFFF"/>
      </a:lt1>
      <a:dk2>
        <a:srgbClr val="063D34"/>
      </a:dk2>
      <a:lt2>
        <a:srgbClr val="E3F4EE"/>
      </a:lt2>
      <a:accent1>
        <a:srgbClr val="0B6E5C"/>
      </a:accent1>
      <a:accent2>
        <a:srgbClr val="F28C28"/>
      </a:accent2>
      <a:accent3>
        <a:srgbClr val="D64545"/>
      </a:accent3>
      <a:accent4>
        <a:srgbClr val="1B8A74"/>
      </a:accent4>
      <a:accent5>
        <a:srgbClr val="3B6FB6"/>
      </a:accent5>
      <a:accent6>
        <a:srgbClr val="F2C94C"/>
      </a:accent6>
      <a:hlink>
        <a:srgbClr val="0B6E5C"/>
      </a:hlink>
      <a:folHlink>
        <a:srgbClr val="5C6B67"/>
      </a:folHlink>
    </a:clrScheme>
    <a:fontScheme name="Kifaya 11.1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Kifaya Pharmacy Supermarket - 11.11 Mega Sale Campaign Proposal</dc:title>
  <dc:subject>PptxGenJS Presentation</dc:subject>
  <dc:creator>PptxGenJS</dc:creator>
  <cp:lastModifiedBy>PptxGenJS</cp:lastModifiedBy>
  <cp:revision>1</cp:revision>
  <dcterms:created xsi:type="dcterms:W3CDTF">2026-10-15T10:30:52Z</dcterms:created>
  <dcterms:modified xsi:type="dcterms:W3CDTF">2026-10-15T10:30:52Z</dcterms:modified>
</cp:coreProperties>
</file>